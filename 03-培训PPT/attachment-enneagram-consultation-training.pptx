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731520"/>
            <a:ext cx="164592" cy="16459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685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 Consultation Training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x 九型 x 客体关系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从双轴升级到三轴 · 情感咨询的整合理论架构与实操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从看到"怎么反应"到看穿"为什么这样反应"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114800"/>
            <a:ext cx="3657600" cy="0"/>
          </a:xfrm>
          <a:prstGeom prst="line">
            <a:avLst/>
          </a:prstGeom>
          <a:noFill/>
          <a:ln w="25400">
            <a:solidFill>
              <a:srgbClr val="E272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51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情感咨询师 · 伴侣治疗师 · 成长陪伴者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v2.2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73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依恋理论核心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993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 Theory · 四象限 · 三轴基础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23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九型人格核心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770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Enneagram · 核心恐惧 · 健康层级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227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三轴融合框架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5478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依恋×九型×客体关系 · 12构型 · 5技术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9164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5166360" y="16459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760720" y="16733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咨询实操架构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760720" y="19933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阶段流程 · 11 核心技术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2423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0" y="24505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典型构型案例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760720" y="27706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12构型展开 · 干预脚本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3246120"/>
            <a:ext cx="54864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760720" y="32278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760720" y="3547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Supervision · 反移情 · 三轴自校准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本培训约需 2.5 小时，建议分两个半场进行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依恋理论核心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Theory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从"安全 vs 焦虑 vs 回避"看关系中的情绪调节策略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依恋的起源与核心命题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 of Attachment Theory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1969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Bowlby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提出依恋的进化生物学基础: 婴儿对照顾者的依恋是生存本能, 形成了"内在工作模型"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1978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Ainsworth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"陌生情境实验" 实证了安全型 / 焦虑-矛盾型 / 回避型 三种依恋模式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554480"/>
            <a:ext cx="2651760" cy="9144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1987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Hazan &amp; Shaver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6974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将依恋延伸至成人浪漫关系, 提出依恋风格影响伴侣选择与互动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核心命题: 早年与照顾者的互动, 塑造了一个人"我是否值得被爱 / 别人是否可靠"的基本信念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四种成人依恋风格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Adult Attachment Styles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安全型 Secure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低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4592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"我值得被爱, 他人基本可靠"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灵活: 能靠近也能独立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焦虑型 Preoccupied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9204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高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5216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低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"我不够好, 需要不断确认爱"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黏附 / 追 / 情感激活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10896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回避型 Dismissive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8580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低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592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"我不需要, 他人不可靠"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退缩 / 去激活 / 自我依赖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10896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08960"/>
            <a:ext cx="73152" cy="1600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混乱型 Fearful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89204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高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52160" y="35661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886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"我想要但我怕靠近会受伤"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策略: 推拉 / 解离 / 创伤重演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焦虑-回避: 一个连续谱, 而不是四类人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Dimensions, Not Four Types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572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1645920"/>
            <a:ext cx="0" cy="265176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高回避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0" y="42976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低回避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420624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035808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51960" y="3035808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 + 高回避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88920" y="16916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196596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 + 高回避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383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高焦虑 + 低回避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88920" y="3383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88920" y="365760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低焦虑 + 低回避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0" y="1463040"/>
            <a:ext cx="3383280" cy="30175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1600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关键认知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8640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不是性格, 是关系中的情绪调节策略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早期形成, 但可在后续关系中被修复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063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压力下激活, 稳定时休眠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5661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大多数人是"获得性安全"——非原生, 但可后天建构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依恋在咨询室里的样子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Attachment Shows Up in the Therapy Room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按时来, 能自我反思, 主动讲出感受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身体放松, 眼神自然, 不太需要"被救"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容易觉得"他没问题, 为什么来"——其实是带着"工作关系"来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0604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ANXIOUS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5176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"你下周还在吗" / 反复确认咨询师在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5176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心跳快, 喉咙紧, 手心出汗, 频繁求证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1460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65176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想安抚——但节制安抚, 否则复制早年"被情绪拖着走"的父母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AVOIDANT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0060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060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准时但不深入, 情感话题切换为理性分析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0060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肩膀紧, 呼吸浅, 目光回避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80060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感到被推开, 自己也想撤——这是反移情, 不是来访者不需要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812280" y="1463040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812280" y="1463040"/>
            <a:ext cx="2011680" cy="5029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9" name="Text 37"/>
          <p:cNvSpPr/>
          <p:nvPr/>
        </p:nvSpPr>
        <p:spPr>
          <a:xfrm>
            <a:off x="690372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903720" y="1783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FEARFUL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49440" y="2103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49440" y="22860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一次咨询里多次"翻脸", 解离迹象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49440" y="29718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49440" y="3154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状态不稳, 情绪戏剧化波动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812280" y="3703320"/>
            <a:ext cx="2011680" cy="960120"/>
          </a:xfrm>
          <a:prstGeom prst="rect">
            <a:avLst/>
          </a:prstGeom>
          <a:solidFill>
            <a:srgbClr val="FAF6F1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0" y="374904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咨询师注意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949440" y="393192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咨询师: 跟着情绪走, 自己也混乱——必须先稳定自己, 才能稳定来访者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九型人格核心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Enneagram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从"核心恐惧/欲望/防御"看人格的内在操作系统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九型的三要素结构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Elements of the Enneagram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640080" cy="640080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Fear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"如果我不__, 我就会__"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这是驱动整个类型的发动机, 决定注意力的方向, 决定一切行为的优先级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1645920"/>
            <a:ext cx="640080" cy="64008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20624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核心欲望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20624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Desire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7472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"我必须__才能感到完整"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这是核心恐惧的反面, 是个体拼命追求的"填补"——但它常常是个错觉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46304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1645920"/>
            <a:ext cx="640080" cy="6400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691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防御机制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2011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spc="200" kern="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Mechanism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5146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自动化的应对策略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310896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在压力下自动启动, 是认知层/行为层的"第一道防线"——保护自我免于触碰核心恐惧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例: 2号 助人型 = 核心恐惧"不被需要" + 核心欲望"被爱" + 防御"压抑自我需要, 投射他人需要"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九型的九种主型速览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Nine Types at a Glance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完美型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不完美 / 错误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11480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助人型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11480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不被需要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55448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58191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4944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成就型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49440" y="1828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无价值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浪漫型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平凡 / 无独特性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11480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观察型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11480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无能 / 被侵占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4231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260604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26334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949440" y="2560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疑惑型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949440" y="2880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无支持 / 被背叛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28016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享乐型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28016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痛苦 / 被限制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184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2900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41" name="Text 39"/>
          <p:cNvSpPr/>
          <p:nvPr/>
        </p:nvSpPr>
        <p:spPr>
          <a:xfrm>
            <a:off x="342900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11480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11480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被控制 / 被伤害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4747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63640" y="3657600"/>
            <a:ext cx="548640" cy="54864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46" name="Text 44"/>
          <p:cNvSpPr/>
          <p:nvPr/>
        </p:nvSpPr>
        <p:spPr>
          <a:xfrm>
            <a:off x="6263640" y="36850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949440" y="36118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和平型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949440" y="39319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核心恐惧: 冲突 / 分离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" y="4617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记忆口诀: 1要正确 2要被爱 3要成就 4要独特 5要空间 6要安全 7要自由 8要掌控 9要平和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健康层级与压力方向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Levels of Development and Stress Direction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57200" cy="64008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1-3 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1600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任何类型都接近安全型依恋, 灵活, 自我接纳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457200" cy="640080"/>
          </a:xfrm>
          <a:prstGeom prst="rect">
            <a:avLst/>
          </a:prstGeom>
          <a:solidFill>
            <a:srgbClr val="888888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240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606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 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类型特征凸显, 依恋象限稳定显现, 自动导航启动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57200" cy="64008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0175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不健康层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3154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类型与依恋互相放大, 出现病理化反应, 防御崩溃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临床关键: 评估来访者"当下处于哪个层级",比"他是什么类型"更重要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不健康的2号 vs 健康2号, 依恋表现可能完全相反; 不健康的5号 vs 健康5号, 也是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三轴融合框架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Tri-Axis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× 九型 × 客体关系 = 来访者的"内在世界"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657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 × 九型 × 客体关系 三轴映射表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914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Tri-Axis: Attachment × Enneagram × Object Relations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188720"/>
                <a:gridCol w="228600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九型(高度亲和)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九型(中度)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客体关系维度(v2.2 新增)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内在逻辑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2号 助人型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6号 疑惑型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4号 浪漫型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"他人都不可信 / 不爱我"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投射"不信任"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注意力朝向他人的爱 / 威胁, 需要持续确认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回避型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5号 观察型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8号 挑战型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3号 成就型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"他人会入侵 / 利用我"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投射"入侵"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注意力朝向自己 / 控制, 亲密等同"被入侵"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混乱型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4号 浪漫型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1号 / 9号 失健康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"我不值得,但渴望被拯救"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投射"被拯救"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注意力矛盾: 既渴望又恐惧, 自我内部冲突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1号 / 3号 健康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内在图: "我值得, 他人基本可靠"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投射性认同: 极少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5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注意力灵活, 可在亲近与独立间切换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v2.2 升级:从双轴 → 三轴。 客体关系维度(内在图 / 投射性认同)是修补结构的关键,比动力/行为更长效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高频构型速查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High-Frequency Combinations in Practice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2号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关系中过度付出 → 期待回报 → 未得 → 情绪勒索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"我能不能不付出地被爱"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6号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反复求证 / 测试 / 投射怀疑 / 信任建立极慢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区分"直觉"vs"投射的恐惧"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37160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37160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5087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x 5号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退入思考 / 情感冻结 / 亲密升级时本能想撤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慢暴露, 让他觉得"感受是安全的"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 x 8号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外强中干 / 控制 / 不允许自己"被看到弱"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在绝对安全的咨询空间里承认脆弱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 x 4号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7472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推拉戏剧 / 自我矛盾 / 不知道"被爱"该怎么接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472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持续在场 + 命名"推开"的预警信号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926080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926080"/>
            <a:ext cx="2651760" cy="54864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0632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 x 4号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09360" y="34290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戏剧化追 / 强烈情绪起伏 / 在关系中放大感受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干预核心: 命名激活态, 慢下来回到身体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关系中的"双人舞": 典型配对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Relationship Duet: Common Pairings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27432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互动动态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核心冲突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干预方向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2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焦虑2号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回避5号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 - 躲循环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"我要靠近" vs "我需要空间"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翻译: 追 = 爱, 躲 ≠ 拒绝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焦虑6号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回避8号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 - 反测试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"你真的不会离开吗" vs "我不接受被质疑"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命名触发器, 建立预警信号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混乱4号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安全9号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戏剧 - 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"你不理解我" vs "我都接受"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9号要长出边界, 4号要落地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回避3号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2725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焦虑4号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形象 - 灵魂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"看我多优秀" vs "看我的深渊"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23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揭穿"完美"幻象, 共情"痛苦"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C5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配对不是"坏的",而是双方无意识在重演早年剧本——改变任何一方的反应模式,系统就被迫重组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咨询实操架构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Practice Framework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阶段三轴递进路径 · 11 核心技术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阶段三轴递进路径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Six-Stage Tri-Axis Progressive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建立关系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依恋为主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建立安全基地, 让来访者开始"重复"给你看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78308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8308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3" name="Text 11"/>
          <p:cNvSpPr/>
          <p:nvPr/>
        </p:nvSpPr>
        <p:spPr>
          <a:xfrm>
            <a:off x="178308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看见模式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4-8 次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2880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依恋+九型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2880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识别激活模式 + 防御位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4612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看见动力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4612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9-15 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九型+客体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4612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核心恐惧暴露 + 反移情浮现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1772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6344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修补结构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6344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16-25 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6344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客体为主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6344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破裂-修复循环, 修补内在图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03504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4" name="Text 32"/>
          <p:cNvSpPr/>
          <p:nvPr/>
        </p:nvSpPr>
        <p:spPr>
          <a:xfrm>
            <a:off x="603504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8076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巩固整合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8076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26-40 次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8076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三轴同步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8076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三轴并用检验, 处理增长痛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452360" y="1554480"/>
            <a:ext cx="13258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52360" y="1554480"/>
            <a:ext cx="132588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41" name="Text 39"/>
          <p:cNvSpPr/>
          <p:nvPr/>
        </p:nvSpPr>
        <p:spPr>
          <a:xfrm>
            <a:off x="7452360" y="1600200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498080" y="199339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维护结案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498080" y="24231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498080" y="26700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三轴并用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498080" y="2971800"/>
            <a:ext cx="1234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渐退频率, 内化咨询师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三轴递进路径(身体层→动力层→结构层), 主轴从依恋逐级到三轴并用, 缺一不可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核心咨询技术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Intervention Techniques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依恋激活调节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焦虑 / 混乱型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命名 -&gt; 归位 -&gt; 身体 -&gt; 资源 -&gt; 再选择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395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激活态下前额叶关闭,先调节身体,再处理意义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去激活反向工作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92040" y="175564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回避型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不催促 -&gt; 命名"不去感受" -&gt; 小剂量身体 -&gt; 肯定"敢感受"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23957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回避型不是"没感受",是"关闭感受"——让它觉得感受是安全的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九型核心恐惧暴露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3101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所有类型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580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命名 -&gt; 邀请进入 -&gt; 不立即安抚 -&gt; 身体陪伴 -&gt; 重建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3950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核心恐惧一旦被完整经历而非回避,影响力就开始减弱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92608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926080"/>
            <a:ext cx="91440" cy="141732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017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三轴叙事整合 (v2.2 新增)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92040" y="33101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适用: 中后期 · 修补内在图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步骤: T1投射性识别 → T2温尼科特时刻 → T3破裂-修复 → T4命名分裂 → T5内在图改写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39502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原理: 行为/动力只能"安抚",结构修补才"长效"——5 个客体关系技术是 v2.2 的核心新增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典型构型案例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从三个最常见的构型看咨询路径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焦虑 x 2号助人型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Anxious-Preoccupied x Type 2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女士, 32 岁, 市场营销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亲密关系中过度付出, 对方疏远后情绪崩溃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父母情绪不稳, 她通过"照顾弟弟"获得关注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"被爱 = 被需要" 的等式已经形成 20+ 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平均-不健康过渡 (5-6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压力方向: 2 -&gt; 8, 表现为爆发与控制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不急着安抚"被抛弃"的恐惧——先慢下来, 让她看见自己的付出模式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邀请她说"过去一周, 你自己想做的事, 做了多少?"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触碰核心——"如果真的不被需要, 你会变成什么?"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新经验——"一个朋友说, 我不需要你做什么, 我就是爱你"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"我能不能不付出地被爱"——这是 2 号真正的自由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回避 x 5号观察型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Dismissive-Avoidant x Type 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先生, 38 岁, 程序员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"我太独立, 没办法靠近她"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母亲很忙, 他从小自己玩, "不碍事" 让他活下来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"独立 = 自由 / 依赖 = 枷锁" 的等式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平均 (4-5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在亲密升级时, 本能想撤, 把"感受" 切换为"分析"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不催促"打开"——先承认"你的独立很可能保护过你"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小剂量身体——"你愿意试, 一边说, 一边把手放在胸口吗?"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命名"不去感受"——"你刚才说时眼眶动了, 敢感受不容易"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慢暴露——"想象她哭着说我需要你, 你身体什么反应? 想关上门? 让它在"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健康 5 号的"有选择的连接"——既独立, 也能深度共在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案例: 混乱 x 4号浪漫型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Fearful-Avoidant x Type 4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来访者画像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女士, 28 岁, 设计师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585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主诉: 反复在关系里追-逃, "我知道不对, 但我停不下来"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6426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早年: 父母离异, 在两边被"推"过来又"推"过去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072384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26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"被爱 = 即将失去" 的底层逻辑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107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健康层级: 不健康 (6-7 层)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解离 + 戏剧化, 经常"测试"伴侣, 测试失败后自我封闭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咨询路径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1: 命名激活态——"你的系统在响警报, 但这不代表警报是真的"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423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2: 命名"要消失" 的预警——"你发现你在发抖, 我和你一起"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3: 触碰核心——"你最怕的是被离开, 还是被靠近之后又失去?"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4: 矫正性经验——咨询师"持续在场, 不被推开吓退" 本身就是治疗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931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整合方向: 健康 4 号的"将感受转化为创造"——从沉溺到落地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3657600" y="164592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0" y="2423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Therapist Self-Calibration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0" y="3017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你能陪来访者去多远, 取决于你曾独自走过多远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0" y="352044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咨询师的三轴自我觉察 (v2.2)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Therapist Self-Awareness on Tri-Axis (依恋×九型×客体关系)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91440" cy="2743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你的依恋象限, 影响你对来访者的反应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焦虑咨询师 x 回避来访者: 容易"没被回应" 而生气 / 退却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焦虑咨询师 x 焦虑来访者: 容易陷入"双焦虑" 的纠缠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回避咨询师 x 焦虑来访者: 容易被压垮, 或变得麻木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混乱咨询师 x 混乱来访者: 容易一起"翻车"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安全咨询师: 是稀缺资源, 但也可能"无法理解" 非安全来访者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40233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371600"/>
            <a:ext cx="91440" cy="274320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4630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你的九型 + 客体关系维度, 决定你的"咨询盲区"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19202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874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号咨询师: 可能对来访者"太严" / 难以接纳混乱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33172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号咨询师: 容易过度卷入, 难以拒绝"被需要"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74320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号咨询师: 看起来什么都会, 难以长处"不知道"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5468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号咨询师: 难以触碰身体, 容易把情感转化为分析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6616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号咨询师: 难以碰冲突, 容易跟着来访者的节奏走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977640"/>
            <a:ext cx="73152" cy="73152"/>
          </a:xfrm>
          <a:prstGeom prst="ellipse">
            <a:avLst/>
          </a:prstGeom>
          <a:solidFill>
            <a:srgbClr val="E2725B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931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v2.2 新增: 咨询师自身的"内在客体关系图"也会被激活——警惕自己的投射性认同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应对: 暂停, 督导(用 5 技术自评卡), 回到自己的身体; 必要时要转介来访者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三个核心要点, 带走能用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to Take With You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三轴融合 (v2.2)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× Why × Structure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依恋告诉"怎么反应", 九型告诉"为什么", 客体关系告诉"内在世界长什么样"——三轴不衡, 行为+动力+结构 缺一不可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47472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顺序, 顺序, 顺序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Matters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依恋(安全)→ 九型(动力)→ 客体关系(结构), 顺序颠倒会复制早年创伤而非修复——v2.2 三轴递进路径铁律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463040"/>
            <a:ext cx="26517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6002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630936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咨询师自己也是工具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the Tool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33832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你能陪来访者去多远, 取决于你曾独自走过多远——督导 + 个人咨询 + 5技术自评卡 不是选项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371600" cy="0"/>
          </a:xfrm>
          <a:prstGeom prst="line">
            <a:avLst/>
          </a:prstGeom>
          <a:noFill/>
          <a:ln w="25400">
            <a:solidFill>
              <a:srgbClr val="E272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愿这份指南成为你工作中的"地图", 而非枷锁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AF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感谢你走到最后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023360" y="2743200"/>
            <a:ext cx="1097280" cy="36576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C5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配套资源 / Companion Resources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理论架构与咨询指南 (v2.2 三轴)  -  主文档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咨询师速查工具卡  -  现场查阅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88620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构型深度展开 (含 1.5/4.5/5.4 客体关系子节)  -  构型查询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个咨询录音脚本  -  培训示范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客体关系专题包 (5 个文件 + 12 构型图谱)  -  v2.2 新增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443484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咨询师自我校准 / 督导专题包 / 督导使用指南  -  7+8 模块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61772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个完整案例 + 教学要点  -  案例库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80060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AF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来访者自助手册  -  PDF 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03920" y="46634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C5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防御位 × 12 构型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spc="300" kern="0" dirty="0">
                <a:solidFill>
                  <a:srgbClr val="E27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Defense Positions × 4 Attachment = 12 Configurations (v2.2 新增)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个防御位 (从 9 个九型简化)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74520"/>
            <a:ext cx="137160" cy="59436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对抗位 (Confront)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671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1·3·8 号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926080" y="19659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面对压力: 冲/控制/取得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60320"/>
            <a:ext cx="137160" cy="59436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06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退行位 (Retreat)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8529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4·5·9 号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0" y="26517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面对压力: 退/隔离/溶解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5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246120"/>
            <a:ext cx="137160" cy="594360"/>
          </a:xfrm>
          <a:prstGeom prst="rect">
            <a:avLst/>
          </a:prstGeom>
          <a:solidFill>
            <a:srgbClr val="E2725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2918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警觉位 (Regulate)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5387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2·6·7 号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面对压力: 调节他人/备份/分散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46320" y="1463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构型 (4 依恋 × 3 防御位)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1874520"/>
            <a:ext cx="1371600" cy="2743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18928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焦虑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874520"/>
            <a:ext cx="1371600" cy="2743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0" y="18928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1874520"/>
            <a:ext cx="1371600" cy="2743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6" name="Text 24"/>
          <p:cNvSpPr/>
          <p:nvPr/>
        </p:nvSpPr>
        <p:spPr>
          <a:xfrm>
            <a:off x="7589520" y="18928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混乱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1874520"/>
            <a:ext cx="1371600" cy="274320"/>
          </a:xfrm>
          <a:prstGeom prst="rect">
            <a:avLst/>
          </a:prstGeom>
          <a:solidFill>
            <a:srgbClr val="1A2238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0" y="189280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2148840"/>
            <a:ext cx="822960" cy="457200"/>
          </a:xfrm>
          <a:prstGeom prst="rect">
            <a:avLst/>
          </a:prstGeom>
          <a:solidFill>
            <a:srgbClr val="D4C5B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2402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警觉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21488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22677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2 号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35140" y="21488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35140" y="22677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6 号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01000" y="21488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01000" y="22677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4 号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2606040"/>
            <a:ext cx="822960" cy="457200"/>
          </a:xfrm>
          <a:prstGeom prst="rect">
            <a:avLst/>
          </a:prstGeom>
          <a:solidFill>
            <a:srgbClr val="D4C5B9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26974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对抗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0" y="26060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0" y="27249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5 号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35140" y="26060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35140" y="27249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8 号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01000" y="26060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01000" y="27249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3 号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46320" y="3063240"/>
            <a:ext cx="822960" cy="457200"/>
          </a:xfrm>
          <a:prstGeom prst="rect">
            <a:avLst/>
          </a:prstGeom>
          <a:solidFill>
            <a:srgbClr val="D4C5B9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3154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69280" y="30632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31821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4 号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35140" y="30632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35140" y="31821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1 号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001000" y="30632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01000" y="31821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9 号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46320" y="3520440"/>
            <a:ext cx="822960" cy="457200"/>
          </a:xfrm>
          <a:prstGeom prst="rect">
            <a:avLst/>
          </a:prstGeom>
          <a:solidFill>
            <a:srgbClr val="D4C5B9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6118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69280" y="35204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69280" y="36393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7 号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35140" y="35204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35140" y="36393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9 号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001000" y="3520440"/>
            <a:ext cx="11658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5B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01000" y="3639312"/>
            <a:ext cx="11658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3 号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构型是本套件"主菜单" — 把 9 型 × 4 依恋 = 36 场景简化为 12, 临床定位更快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943600" y="48920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272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一念三轴 · Yiinian Triaxis (v2.2)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依恋 x 九型 - 情感咨询融合理论培训</dc:title>
  <dc:subject>PptxGenJS Presentation</dc:subject>
  <dc:creator>Mavis</dc:creator>
  <cp:lastModifiedBy>Mavis</cp:lastModifiedBy>
  <cp:revision>1</cp:revision>
  <dcterms:created xsi:type="dcterms:W3CDTF">2026-07-21T20:23:08Z</dcterms:created>
  <dcterms:modified xsi:type="dcterms:W3CDTF">2026-07-21T20:23:08Z</dcterms:modified>
</cp:coreProperties>
</file>